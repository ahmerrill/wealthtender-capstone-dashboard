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Int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hkgiDD+gta7gcfU3Ig6iwDi/V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6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3040cac62_0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g3c3040cac62_0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c3040cac62_0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305" y="42382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" name="Google Shape;14;p1"/>
          <p:cNvPicPr preferRelativeResize="0"/>
          <p:nvPr/>
        </p:nvPicPr>
        <p:blipFill rotWithShape="1">
          <a:blip r:embed="rId3">
            <a:alphaModFix/>
          </a:blip>
          <a:srcRect b="0" l="-200" r="-199" t="0"/>
          <a:stretch/>
        </p:blipFill>
        <p:spPr>
          <a:xfrm>
            <a:off x="-29080" y="8686"/>
            <a:ext cx="12221080" cy="7607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437388" y="1752448"/>
            <a:ext cx="10972800" cy="19202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09905" y="609905"/>
            <a:ext cx="1114470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Inter"/>
              <a:buNone/>
            </a:pPr>
            <a:r>
              <a:rPr b="1" lang="en-US" sz="36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Relationship Alpha from Reviews: </a:t>
            </a:r>
            <a:r>
              <a:rPr b="1" lang="en-US" sz="36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EDA Findings &amp; What   Comes Next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608463" y="2255214"/>
            <a:ext cx="11278210" cy="990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Problem:</a:t>
            </a:r>
            <a:r>
              <a:rPr lang="en-US" sz="19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Star ratings could not differentiate advisors, with most receiving similarly high scores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This project uses client reviews to uncover meaningful, relationship-driven insights beyond ratings</a:t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608463" y="3354649"/>
            <a:ext cx="112782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900"/>
              <a:buFont typeface="Inter"/>
              <a:buNone/>
            </a:pPr>
            <a:r>
              <a:rPr b="1" lang="en-US" sz="19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-US" sz="19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Build a review-driven system that surfaces meaningful relationship strengths/gaps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08463" y="4042278"/>
            <a:ext cx="10683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900"/>
              <a:buFont typeface="Inter"/>
              <a:buNone/>
            </a:pPr>
            <a:r>
              <a:rPr b="1" lang="en-US" sz="19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Completed:</a:t>
            </a:r>
            <a:r>
              <a:rPr lang="en-US" sz="19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Reproducible data pipeline + integrity checks + EDA + text cleaning + linguistic scan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08463" y="4689673"/>
            <a:ext cx="10683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900"/>
              <a:buFont typeface="Inter"/>
              <a:buNone/>
            </a:pPr>
            <a:r>
              <a:rPr b="1" lang="en-US" sz="19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r>
              <a:rPr lang="en-US" sz="19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We now know what signal exists, where noise exists, and what constraints we must handle (sample size + short reviews)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9213494" y="6344107"/>
            <a:ext cx="184800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EDA Milestone Report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11054182" y="6324905"/>
            <a:ext cx="1335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11181283" y="6344107"/>
            <a:ext cx="48829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Slide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2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6742328" y="3749330"/>
            <a:ext cx="4704893" cy="240598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-1" y="-22223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4">
            <a:alphaModFix/>
          </a:blip>
          <a:srcRect b="0" l="-200" r="-199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571500" y="1076506"/>
            <a:ext cx="10972800" cy="19202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609905" y="609905"/>
            <a:ext cx="11101730" cy="460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Inter"/>
              <a:buNone/>
            </a:pPr>
            <a:r>
              <a:rPr b="1" lang="en-US" sz="27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Ratings Saturation: </a:t>
            </a:r>
            <a:r>
              <a:rPr b="1" lang="en-US" sz="27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Star Ratings Provide Almost No Differentiation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09905" y="2338529"/>
            <a:ext cx="537210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Inter"/>
              <a:buNone/>
            </a:pPr>
            <a:r>
              <a:rPr b="1" lang="en-US" sz="16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Key Insights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836675" y="2757324"/>
            <a:ext cx="5639105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Inter"/>
              <a:buNone/>
            </a:pPr>
            <a:r>
              <a:rPr b="1"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4,714 out of 4,822</a:t>
            </a:r>
            <a:r>
              <a:rPr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reviews are 5-star → </a:t>
            </a:r>
            <a:r>
              <a:rPr b="1"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~97.8%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836675" y="3236470"/>
            <a:ext cx="5031029" cy="581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Inter"/>
              <a:buNone/>
            </a:pPr>
            <a:r>
              <a:rPr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Very few reviews are &lt;5 stars (only 41 reviews total are 1–4 stars)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836675" y="3830831"/>
            <a:ext cx="5031029" cy="581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Inter"/>
              <a:buNone/>
            </a:pPr>
            <a:r>
              <a:rPr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Confirms the business problem: ratings are not a meaningful performance signal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836675" y="4397759"/>
            <a:ext cx="5031029" cy="581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Inter"/>
              <a:buNone/>
            </a:pPr>
            <a:r>
              <a:rPr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“real” differentiation must come from review text and relationship themes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7853" y="4961744"/>
            <a:ext cx="5257800" cy="1398694"/>
          </a:xfrm>
          <a:prstGeom prst="roundRect">
            <a:avLst>
              <a:gd fmla="val 1646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7853" y="4939520"/>
            <a:ext cx="75896" cy="1420917"/>
          </a:xfrm>
          <a:prstGeom prst="roundRect">
            <a:avLst>
              <a:gd fmla="val 58789" name="adj"/>
            </a:avLst>
          </a:prstGeom>
          <a:solidFill>
            <a:srgbClr val="0EA5E9"/>
          </a:solidFill>
          <a:ln cap="flat" cmpd="sng" w="12700">
            <a:solidFill>
              <a:srgbClr val="0EA5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105052" y="5048624"/>
            <a:ext cx="4648810" cy="273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00"/>
              <a:buFont typeface="Inter"/>
              <a:buNone/>
            </a:pPr>
            <a:r>
              <a:rPr b="1" lang="en-US" sz="14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Recommendation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238554" y="5398327"/>
            <a:ext cx="4515307" cy="27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De-emphasize star ratings as a primary ranking signal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220742" y="5795468"/>
            <a:ext cx="451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Use them as a secondary indicator (or quality control), but not the core score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6818675" y="1346325"/>
            <a:ext cx="4620625" cy="24060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reencoded.png" id="46" name="Google Shape;46;p2"/>
          <p:cNvPicPr preferRelativeResize="0"/>
          <p:nvPr/>
        </p:nvPicPr>
        <p:blipFill rotWithShape="1">
          <a:blip r:embed="rId5">
            <a:alphaModFix/>
          </a:blip>
          <a:srcRect b="-93" l="0" r="0" t="-94"/>
          <a:stretch/>
        </p:blipFill>
        <p:spPr>
          <a:xfrm>
            <a:off x="7497725" y="1327250"/>
            <a:ext cx="3159050" cy="23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9667064" y="6492391"/>
            <a:ext cx="184800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EDA Milestone Report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1025835" y="6324905"/>
            <a:ext cx="1335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11634853" y="6492391"/>
            <a:ext cx="52212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Slide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8353888" y="1194131"/>
            <a:ext cx="2160900" cy="13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1" lang="en-US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Rating Distribution (n=4,822)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553422" y="1376203"/>
            <a:ext cx="6000082" cy="60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Dataset Overview:</a:t>
            </a:r>
            <a:r>
              <a:rPr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4,822 reviews across 339 advisors with 20 distinct feature columns. Dates covered 2008–2026, showing major growth in recent years, </a:t>
            </a:r>
            <a:r>
              <a:rPr lang="en-US" sz="16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Ratings missing: </a:t>
            </a:r>
            <a:r>
              <a:rPr b="1" lang="en-US" sz="1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~1.39%, </a:t>
            </a:r>
            <a:r>
              <a:rPr lang="en-US" sz="16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Empty text: </a:t>
            </a:r>
            <a:r>
              <a:rPr b="1" lang="en-US" sz="1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~0.04%</a:t>
            </a:r>
            <a:r>
              <a:rPr lang="en-US" sz="16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(negligible)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6818650" y="3840001"/>
            <a:ext cx="4620600" cy="2476475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graph of a graph&#10;&#10;AI-generated content may be incorrect." id="53" name="Google Shape;53;p2"/>
          <p:cNvPicPr preferRelativeResize="0"/>
          <p:nvPr/>
        </p:nvPicPr>
        <p:blipFill rotWithShape="1">
          <a:blip r:embed="rId6">
            <a:alphaModFix/>
          </a:blip>
          <a:srcRect b="0" l="3562" r="16434" t="2467"/>
          <a:stretch/>
        </p:blipFill>
        <p:spPr>
          <a:xfrm>
            <a:off x="7497723" y="3875238"/>
            <a:ext cx="3262452" cy="24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-1" r="-1" t="0"/>
          <a:stretch/>
        </p:blipFill>
        <p:spPr>
          <a:xfrm>
            <a:off x="6477610" y="1258467"/>
            <a:ext cx="4824374" cy="245833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1327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4">
            <a:alphaModFix/>
          </a:blip>
          <a:srcRect b="0" l="-200" r="-199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609905" y="1190549"/>
            <a:ext cx="10972800" cy="19202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609905" y="609905"/>
            <a:ext cx="12733934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Inter"/>
              <a:buNone/>
            </a:pPr>
            <a:r>
              <a:rPr b="1" lang="en-US" sz="27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Review Coverage is Long-Tailed: </a:t>
            </a:r>
            <a:r>
              <a:rPr b="1" lang="en-US" sz="27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Many Advisors Have Low Data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609905" y="1290067"/>
            <a:ext cx="537210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Key Statistics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875995" y="1671372"/>
            <a:ext cx="510601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Distribution Stats: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1028700" y="2014272"/>
            <a:ext cx="49533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Median reviews per advisor: </a:t>
            </a: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1028700" y="2309623"/>
            <a:ext cx="49533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90th percentile: </a:t>
            </a: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(Max: 144)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875995" y="2696414"/>
            <a:ext cx="510601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Prevalence of Low-Data Advisors: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1028700" y="3039314"/>
            <a:ext cx="49533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18.3%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have &lt;3 reviews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1028700" y="3334666"/>
            <a:ext cx="49533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24.8%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have &lt;5 reviews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028700" y="3630931"/>
            <a:ext cx="49533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51.6%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have &lt;10 reviews (Majority)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3">
            <a:alphaModFix/>
          </a:blip>
          <a:srcRect b="0" l="-1" r="-1" t="0"/>
          <a:stretch/>
        </p:blipFill>
        <p:spPr>
          <a:xfrm>
            <a:off x="6477610" y="3900078"/>
            <a:ext cx="4824374" cy="245833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reencoded.png" id="74" name="Google Shape;74;p3"/>
          <p:cNvPicPr preferRelativeResize="0"/>
          <p:nvPr/>
        </p:nvPicPr>
        <p:blipFill rotWithShape="1">
          <a:blip r:embed="rId5">
            <a:alphaModFix/>
          </a:blip>
          <a:srcRect b="0" l="-1" r="-1" t="0"/>
          <a:stretch/>
        </p:blipFill>
        <p:spPr>
          <a:xfrm>
            <a:off x="6624366" y="4070908"/>
            <a:ext cx="4426387" cy="21706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 txBox="1"/>
          <p:nvPr/>
        </p:nvSpPr>
        <p:spPr>
          <a:xfrm>
            <a:off x="9181490" y="6344107"/>
            <a:ext cx="184800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EDA Milestone Report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11022178" y="6324905"/>
            <a:ext cx="1335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11149279" y="6344107"/>
            <a:ext cx="52212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Slide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610" y="1379734"/>
            <a:ext cx="4824374" cy="246905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3"/>
          <p:cNvSpPr/>
          <p:nvPr/>
        </p:nvSpPr>
        <p:spPr>
          <a:xfrm>
            <a:off x="609905" y="4267310"/>
            <a:ext cx="5190186" cy="160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Derived Insights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Inter"/>
              <a:buChar char="•"/>
            </a:pPr>
            <a:r>
              <a:rPr lang="en-US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Cannot score all advisors equally → confidence-aware scoring required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Inter"/>
              <a:buChar char="•"/>
            </a:pPr>
            <a:r>
              <a:rPr lang="en-US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Low-data advisors need directional / substitute reporting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Inter"/>
              <a:buChar char="•"/>
            </a:pPr>
            <a:r>
              <a:rPr lang="en-US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Review volume must influence score reliability, not score value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Inter"/>
              <a:buChar char="•"/>
            </a:pPr>
            <a:r>
              <a:rPr lang="en-US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Enables High / Medium / Low confidence tiers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4"/>
          <p:cNvPicPr preferRelativeResize="0"/>
          <p:nvPr/>
        </p:nvPicPr>
        <p:blipFill rotWithShape="1">
          <a:blip r:embed="rId3">
            <a:alphaModFix/>
          </a:blip>
          <a:srcRect b="-4" l="0" r="0" t="-4"/>
          <a:stretch/>
        </p:blipFill>
        <p:spPr>
          <a:xfrm>
            <a:off x="5257342" y="1191908"/>
            <a:ext cx="6400800" cy="255483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98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4">
            <a:alphaModFix/>
          </a:blip>
          <a:srcRect b="0" l="-200" r="-199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457200" y="895198"/>
            <a:ext cx="11277295" cy="19202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457200" y="457200"/>
            <a:ext cx="1139251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Inter"/>
              <a:buNone/>
            </a:pPr>
            <a:r>
              <a:rPr b="1" lang="en-US" sz="2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Review Text is Rich Enough to </a:t>
            </a:r>
            <a:r>
              <a:rPr b="1" lang="en-US" sz="22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Extract Relationship Signals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457200" y="1138428"/>
            <a:ext cx="46863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1" lang="en-US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Key Insights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685800" y="1442923"/>
            <a:ext cx="44202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After cleaning:</a:t>
            </a:r>
            <a:r>
              <a:rPr lang="en-US" sz="13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4,731 reviews retained (almost all kept)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667055" y="1876349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Typical review length: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914400" y="2241194"/>
            <a:ext cx="42291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Median token count: 63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914400" y="2484425"/>
            <a:ext cx="42291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Mean token count: ~76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914400" y="2728570"/>
            <a:ext cx="42291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Long tail up to 2,048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685800" y="3041294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Short-text noise exists but manageable: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914400" y="3268980"/>
            <a:ext cx="42291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Before cleaning: 11.65% under 20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914400" y="3512210"/>
            <a:ext cx="42291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After cleaning: ~9.96% under 20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685800" y="3824935"/>
            <a:ext cx="44202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Ratings don’t vary with length → text contains nuance that ratings ignore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0" y="4547311"/>
            <a:ext cx="4572000" cy="1343254"/>
          </a:xfrm>
          <a:prstGeom prst="roundRect">
            <a:avLst>
              <a:gd fmla="val 1931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57200" y="4547311"/>
            <a:ext cx="38405" cy="1343254"/>
          </a:xfrm>
          <a:prstGeom prst="roundRect">
            <a:avLst>
              <a:gd fmla="val 67544" name="adj"/>
            </a:avLst>
          </a:prstGeom>
          <a:solidFill>
            <a:srgbClr val="0EA5E9"/>
          </a:solidFill>
          <a:ln cap="flat" cmpd="sng" w="12700">
            <a:solidFill>
              <a:srgbClr val="0EA5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875995" y="470001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Product Implication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395" y="473750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647395" y="5004511"/>
            <a:ext cx="430591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 We can extract relationship dimensions and recommendations from text reliably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67055" y="5404104"/>
            <a:ext cx="4835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 We should weight insights by text richness + sample size.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3">
            <a:alphaModFix/>
          </a:blip>
          <a:srcRect b="-4" l="0" r="0" t="-4"/>
          <a:stretch/>
        </p:blipFill>
        <p:spPr>
          <a:xfrm>
            <a:off x="5832450" y="3845975"/>
            <a:ext cx="5250576" cy="2554824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p4"/>
          <p:cNvSpPr txBox="1"/>
          <p:nvPr/>
        </p:nvSpPr>
        <p:spPr>
          <a:xfrm>
            <a:off x="9653321" y="6439205"/>
            <a:ext cx="159105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EDA Milestone Report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1242548" y="6400800"/>
            <a:ext cx="1335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11369650" y="6439205"/>
            <a:ext cx="44805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Inter"/>
              <a:buNone/>
            </a:pPr>
            <a:r>
              <a:rPr lang="en-US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Slide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883402" y="3889710"/>
            <a:ext cx="1610400" cy="14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1" lang="en-US"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Rating vs. Token Count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aph of a graph&#10;&#10;AI-generated content may be incorrect." id="112" name="Google Shape;11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9837" y="1388825"/>
            <a:ext cx="3988525" cy="235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5810850" y="1191900"/>
            <a:ext cx="5293800" cy="25971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raph with blue dots&#10;&#10;AI-generated content may be incorrect." id="114" name="Google Shape;114;p4"/>
          <p:cNvPicPr preferRelativeResize="0"/>
          <p:nvPr/>
        </p:nvPicPr>
        <p:blipFill rotWithShape="1">
          <a:blip r:embed="rId7">
            <a:alphaModFix/>
          </a:blip>
          <a:srcRect b="0" l="0" r="0" t="2037"/>
          <a:stretch/>
        </p:blipFill>
        <p:spPr>
          <a:xfrm>
            <a:off x="6726578" y="4087725"/>
            <a:ext cx="3615009" cy="2297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5858561" y="1221022"/>
            <a:ext cx="1723500" cy="14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Inter"/>
              <a:buNone/>
            </a:pPr>
            <a:r>
              <a:rPr b="1" lang="en-US"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Token Count Distribution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381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-200" r="-199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609905" y="1905610"/>
            <a:ext cx="10972800" cy="19202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609905" y="609905"/>
            <a:ext cx="1114470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Inter"/>
              <a:buNone/>
            </a:pPr>
            <a:r>
              <a:rPr b="1" lang="en-US" sz="36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Next Steps: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700"/>
              <a:buFont typeface="Inter"/>
              <a:buNone/>
            </a:pPr>
            <a:r>
              <a:rPr b="1" lang="en-US" sz="27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From EDA → NLP Representation → Robust Scoring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580644" y="2229307"/>
            <a:ext cx="438912" cy="381305"/>
          </a:xfrm>
          <a:prstGeom prst="rect">
            <a:avLst/>
          </a:prstGeom>
          <a:solidFill>
            <a:srgbClr val="EFF6FF"/>
          </a:solidFill>
          <a:ln cap="flat" cmpd="sng" w="254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143000" y="2259482"/>
            <a:ext cx="5191963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600"/>
              <a:buFont typeface="Inter"/>
              <a:buNone/>
            </a:pPr>
            <a:r>
              <a:rPr b="1" lang="en-US" sz="16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Choose the best NLP representation </a:t>
            </a:r>
            <a:r>
              <a:rPr b="1" lang="en-US" sz="13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(KR 1.2)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325880" y="2686507"/>
            <a:ext cx="10372954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Test &amp; Compare: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Baseline (TF-IDF + n-grams) vs. Advanced (Embeddings)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325880" y="2966314"/>
            <a:ext cx="1067562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Selection Criteria: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Stability under resampling, interpretability for insights, and production scalability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80644" y="3475634"/>
            <a:ext cx="438912" cy="381305"/>
          </a:xfrm>
          <a:prstGeom prst="rect">
            <a:avLst/>
          </a:prstGeom>
          <a:solidFill>
            <a:srgbClr val="EFF6FF"/>
          </a:solidFill>
          <a:ln cap="flat" cmpd="sng" w="254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143000" y="3505810"/>
            <a:ext cx="5772607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600"/>
              <a:buFont typeface="Inter"/>
              <a:buNone/>
            </a:pPr>
            <a:r>
              <a:rPr b="1" lang="en-US" sz="16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Build score robustness + confidence tiers </a:t>
            </a:r>
            <a:r>
              <a:rPr b="1" lang="en-US" sz="13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(KR 1.3)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1325880" y="3932834"/>
            <a:ext cx="10372954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Methodology: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Create multi-dimensional advisor scores using bootstrap/subsampling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1325880" y="4212641"/>
            <a:ext cx="10372954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Quantification: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Measure score stability and define confidence intervals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1325880" y="4493362"/>
            <a:ext cx="10372954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Governance: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Define rules for when scoring is reliable vs. substitute reporting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580644" y="5002682"/>
            <a:ext cx="438912" cy="381305"/>
          </a:xfrm>
          <a:prstGeom prst="rect">
            <a:avLst/>
          </a:prstGeom>
          <a:solidFill>
            <a:srgbClr val="EFF6FF"/>
          </a:solidFill>
          <a:ln cap="flat" cmpd="sng" w="254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1143000" y="5032858"/>
            <a:ext cx="5658307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600"/>
              <a:buFont typeface="Inter"/>
              <a:buNone/>
            </a:pPr>
            <a:r>
              <a:rPr b="1" lang="en-US" sz="16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Convert scores → recommendations </a:t>
            </a:r>
            <a:r>
              <a:rPr b="1" lang="en-US" sz="13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(Objective 2)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1325880" y="5459882"/>
            <a:ext cx="10372954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Deliverables: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Dimension-level strengths/gaps and firm benchmarking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1325880" y="5739689"/>
            <a:ext cx="10372954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Context: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Incorporate industry trends and automated logic for low-data cases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9185148" y="6344107"/>
            <a:ext cx="184800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EDA Milestone Report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11025835" y="6324905"/>
            <a:ext cx="1335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11152937" y="6344107"/>
            <a:ext cx="52212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Slide 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3040cac62_0_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t/>
            </a:r>
            <a:endParaRPr b="1" sz="13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g3c3040cac62_0_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t/>
            </a:r>
            <a:endParaRPr b="1" sz="13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149" name="Google Shape;149;g3c3040cac62_0_7"/>
          <p:cNvPicPr preferRelativeResize="0"/>
          <p:nvPr/>
        </p:nvPicPr>
        <p:blipFill rotWithShape="1">
          <a:blip r:embed="rId3">
            <a:alphaModFix/>
          </a:blip>
          <a:srcRect b="0" l="-200" r="-200" t="0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c3040cac62_0_7"/>
          <p:cNvSpPr/>
          <p:nvPr/>
        </p:nvSpPr>
        <p:spPr>
          <a:xfrm>
            <a:off x="609905" y="1905610"/>
            <a:ext cx="10972800" cy="1920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F3F4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c3040cac62_0_7"/>
          <p:cNvSpPr txBox="1"/>
          <p:nvPr/>
        </p:nvSpPr>
        <p:spPr>
          <a:xfrm>
            <a:off x="609905" y="609905"/>
            <a:ext cx="11144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Inter"/>
              <a:buNone/>
            </a:pPr>
            <a:r>
              <a:rPr b="1" lang="en-US" sz="36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Next Steps: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700"/>
              <a:buFont typeface="Inter"/>
              <a:buNone/>
            </a:pPr>
            <a:r>
              <a:rPr b="1" lang="en-US" sz="27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From EDA → NLP Representation → Robust Scoring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c3040cac62_0_7"/>
          <p:cNvSpPr txBox="1"/>
          <p:nvPr/>
        </p:nvSpPr>
        <p:spPr>
          <a:xfrm>
            <a:off x="580644" y="2229307"/>
            <a:ext cx="438900" cy="381300"/>
          </a:xfrm>
          <a:prstGeom prst="rect">
            <a:avLst/>
          </a:prstGeom>
          <a:solidFill>
            <a:srgbClr val="EFF6FF"/>
          </a:solidFill>
          <a:ln cap="flat" cmpd="sng" w="254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c3040cac62_0_7"/>
          <p:cNvSpPr txBox="1"/>
          <p:nvPr/>
        </p:nvSpPr>
        <p:spPr>
          <a:xfrm>
            <a:off x="1143000" y="2259482"/>
            <a:ext cx="5192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600"/>
              <a:buFont typeface="Inter"/>
              <a:buNone/>
            </a:pPr>
            <a:r>
              <a:rPr b="1" lang="en-US" sz="16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Choose the best NLP representation </a:t>
            </a:r>
            <a:r>
              <a:rPr b="1" lang="en-US" sz="13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(KR 1.2)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c3040cac62_0_7"/>
          <p:cNvSpPr txBox="1"/>
          <p:nvPr/>
        </p:nvSpPr>
        <p:spPr>
          <a:xfrm>
            <a:off x="1325880" y="2686507"/>
            <a:ext cx="10373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Test &amp; Compare:</a:t>
            </a:r>
            <a:r>
              <a:rPr lang="en-US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Baseline (TF-IDF + n-grams) vs. Advanced (Embeddings)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c3040cac62_0_7"/>
          <p:cNvSpPr txBox="1"/>
          <p:nvPr/>
        </p:nvSpPr>
        <p:spPr>
          <a:xfrm>
            <a:off x="1325880" y="2966314"/>
            <a:ext cx="10675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Selection Criteria:</a:t>
            </a:r>
            <a:r>
              <a:rPr lang="en-US" sz="13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 Stability under resampling, interpretability for insights, and production scalability</a:t>
            </a:r>
            <a:endParaRPr sz="130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c3040cac62_0_7"/>
          <p:cNvSpPr txBox="1"/>
          <p:nvPr/>
        </p:nvSpPr>
        <p:spPr>
          <a:xfrm>
            <a:off x="580644" y="3475634"/>
            <a:ext cx="438900" cy="3813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200">
              <a:solidFill>
                <a:srgbClr val="BFDB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c3040cac62_0_7"/>
          <p:cNvSpPr txBox="1"/>
          <p:nvPr/>
        </p:nvSpPr>
        <p:spPr>
          <a:xfrm>
            <a:off x="1143000" y="3505810"/>
            <a:ext cx="5772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600"/>
              <a:buFont typeface="Inter"/>
              <a:buNone/>
            </a:pPr>
            <a:r>
              <a:rPr b="1" lang="en-US" sz="1600">
                <a:solidFill>
                  <a:srgbClr val="EFF6FF"/>
                </a:solidFill>
                <a:latin typeface="Inter"/>
                <a:ea typeface="Inter"/>
                <a:cs typeface="Inter"/>
                <a:sym typeface="Inter"/>
              </a:rPr>
              <a:t>Build score robustness + confidence tiers </a:t>
            </a:r>
            <a:r>
              <a:rPr b="1" lang="en-US" sz="1300">
                <a:solidFill>
                  <a:srgbClr val="EFF6FF"/>
                </a:solidFill>
                <a:latin typeface="Inter"/>
                <a:ea typeface="Inter"/>
                <a:cs typeface="Inter"/>
                <a:sym typeface="Inter"/>
              </a:rPr>
              <a:t>(KR 1.3)</a:t>
            </a:r>
            <a:endParaRPr sz="1600">
              <a:solidFill>
                <a:srgbClr val="EFF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c3040cac62_0_7"/>
          <p:cNvSpPr txBox="1"/>
          <p:nvPr/>
        </p:nvSpPr>
        <p:spPr>
          <a:xfrm>
            <a:off x="1325880" y="3932834"/>
            <a:ext cx="10373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Methodology:</a:t>
            </a:r>
            <a:r>
              <a:rPr lang="en-US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 Create multi-dimensional advisor scores using bootstrap/subsampling</a:t>
            </a:r>
            <a:endParaRPr sz="13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c3040cac62_0_7"/>
          <p:cNvSpPr txBox="1"/>
          <p:nvPr/>
        </p:nvSpPr>
        <p:spPr>
          <a:xfrm>
            <a:off x="1325880" y="4212641"/>
            <a:ext cx="10373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Quantification:</a:t>
            </a:r>
            <a:r>
              <a:rPr lang="en-US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 Measure score stability and define confidence intervals</a:t>
            </a:r>
            <a:endParaRPr sz="13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c3040cac62_0_7"/>
          <p:cNvSpPr txBox="1"/>
          <p:nvPr/>
        </p:nvSpPr>
        <p:spPr>
          <a:xfrm>
            <a:off x="1325880" y="4493362"/>
            <a:ext cx="10373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Governance:</a:t>
            </a:r>
            <a:r>
              <a:rPr lang="en-US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 Define rules for when scoring is reliable vs. substitute reporting</a:t>
            </a:r>
            <a:endParaRPr sz="13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c3040cac62_0_7"/>
          <p:cNvSpPr txBox="1"/>
          <p:nvPr/>
        </p:nvSpPr>
        <p:spPr>
          <a:xfrm>
            <a:off x="580644" y="5002682"/>
            <a:ext cx="438900" cy="3813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200">
              <a:solidFill>
                <a:srgbClr val="BFDB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c3040cac62_0_7"/>
          <p:cNvSpPr txBox="1"/>
          <p:nvPr/>
        </p:nvSpPr>
        <p:spPr>
          <a:xfrm>
            <a:off x="1143000" y="5032858"/>
            <a:ext cx="5658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600"/>
              <a:buFont typeface="Inter"/>
              <a:buNone/>
            </a:pPr>
            <a:r>
              <a:rPr b="1" lang="en-US" sz="1600">
                <a:solidFill>
                  <a:srgbClr val="EFF6FF"/>
                </a:solidFill>
                <a:latin typeface="Inter"/>
                <a:ea typeface="Inter"/>
                <a:cs typeface="Inter"/>
                <a:sym typeface="Inter"/>
              </a:rPr>
              <a:t>Convert scores → recommendations </a:t>
            </a:r>
            <a:r>
              <a:rPr b="1" lang="en-US" sz="1300">
                <a:solidFill>
                  <a:srgbClr val="EFF6FF"/>
                </a:solidFill>
                <a:latin typeface="Inter"/>
                <a:ea typeface="Inter"/>
                <a:cs typeface="Inter"/>
                <a:sym typeface="Inter"/>
              </a:rPr>
              <a:t>(Objective 2)</a:t>
            </a:r>
            <a:endParaRPr sz="1600">
              <a:solidFill>
                <a:srgbClr val="EFF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c3040cac62_0_7"/>
          <p:cNvSpPr txBox="1"/>
          <p:nvPr/>
        </p:nvSpPr>
        <p:spPr>
          <a:xfrm>
            <a:off x="1325880" y="5459882"/>
            <a:ext cx="10373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Deliverables: </a:t>
            </a:r>
            <a:r>
              <a:rPr lang="en-US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Dimension-level strengths/gaps and firm benchmarking</a:t>
            </a:r>
            <a:endParaRPr sz="13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g3c3040cac62_0_7"/>
          <p:cNvSpPr txBox="1"/>
          <p:nvPr/>
        </p:nvSpPr>
        <p:spPr>
          <a:xfrm>
            <a:off x="1325880" y="5739689"/>
            <a:ext cx="10373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Context: </a:t>
            </a:r>
            <a:r>
              <a:rPr lang="en-US"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Incorporate industry trends and automated logic for low-data cases</a:t>
            </a:r>
            <a:endParaRPr sz="13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g3c3040cac62_0_7"/>
          <p:cNvSpPr txBox="1"/>
          <p:nvPr/>
        </p:nvSpPr>
        <p:spPr>
          <a:xfrm>
            <a:off x="9185148" y="6344107"/>
            <a:ext cx="18480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EDA Milestone Report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c3040cac62_0_7"/>
          <p:cNvSpPr txBox="1"/>
          <p:nvPr/>
        </p:nvSpPr>
        <p:spPr>
          <a:xfrm>
            <a:off x="11025835" y="6324905"/>
            <a:ext cx="1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c3040cac62_0_7"/>
          <p:cNvSpPr txBox="1"/>
          <p:nvPr/>
        </p:nvSpPr>
        <p:spPr>
          <a:xfrm>
            <a:off x="11152937" y="6344107"/>
            <a:ext cx="5220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Slide 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3c3040cac62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450" y="3164000"/>
            <a:ext cx="5339908" cy="3160900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2026-02-02T06:49:12Z</dcterms:created>
  <dc:creator>Visual Extract to PPTX Converter</dc:creator>
</cp:coreProperties>
</file>